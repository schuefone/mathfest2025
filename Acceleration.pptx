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5878759f0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5878759f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78759f0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78759f0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878759f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878759f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878759f0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878759f0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878759f0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878759f0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878759f0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878759f0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6928f7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e6928f7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e6928f75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e6928f75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550afbc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550afbc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2013758" y="47497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1F5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125" y="4703725"/>
            <a:ext cx="9144000" cy="43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"/>
              <a:buNone/>
              <a:defRPr sz="28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42975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000">
                <a:solidFill>
                  <a:schemeClr val="dk2"/>
                </a:solidFill>
              </a:defRPr>
            </a:lvl1pPr>
            <a:lvl2pPr lvl="1" algn="ctr">
              <a:buNone/>
              <a:defRPr sz="1000">
                <a:solidFill>
                  <a:schemeClr val="dk2"/>
                </a:solidFill>
              </a:defRPr>
            </a:lvl2pPr>
            <a:lvl3pPr lvl="2" algn="ctr">
              <a:buNone/>
              <a:defRPr sz="1000">
                <a:solidFill>
                  <a:schemeClr val="dk2"/>
                </a:solidFill>
              </a:defRPr>
            </a:lvl3pPr>
            <a:lvl4pPr lvl="3" algn="ctr">
              <a:buNone/>
              <a:defRPr sz="1000">
                <a:solidFill>
                  <a:schemeClr val="dk2"/>
                </a:solidFill>
              </a:defRPr>
            </a:lvl4pPr>
            <a:lvl5pPr lvl="4" algn="ctr">
              <a:buNone/>
              <a:defRPr sz="1000">
                <a:solidFill>
                  <a:schemeClr val="dk2"/>
                </a:solidFill>
              </a:defRPr>
            </a:lvl5pPr>
            <a:lvl6pPr lvl="5" algn="ctr">
              <a:buNone/>
              <a:defRPr sz="1000">
                <a:solidFill>
                  <a:schemeClr val="dk2"/>
                </a:solidFill>
              </a:defRPr>
            </a:lvl6pPr>
            <a:lvl7pPr lvl="6" algn="ctr">
              <a:buNone/>
              <a:defRPr sz="1000">
                <a:solidFill>
                  <a:schemeClr val="dk2"/>
                </a:solidFill>
              </a:defRPr>
            </a:lvl7pPr>
            <a:lvl8pPr lvl="7" algn="ctr">
              <a:buNone/>
              <a:defRPr sz="1000">
                <a:solidFill>
                  <a:schemeClr val="dk2"/>
                </a:solidFill>
              </a:defRPr>
            </a:lvl8pPr>
            <a:lvl9pPr lvl="8" algn="ct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8800" y="4726825"/>
            <a:ext cx="142017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6253651" y="4776775"/>
            <a:ext cx="21891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© Albert Schueller, 2025</a:t>
            </a:r>
            <a:endParaRPr sz="1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7538" y="4810900"/>
            <a:ext cx="639950" cy="225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270000" y="742950"/>
            <a:ext cx="8520600" cy="21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Measuring Height with a Smartphone and Numerical Integration</a:t>
            </a:r>
            <a:endParaRPr sz="4500"/>
          </a:p>
        </p:txBody>
      </p:sp>
      <p:sp>
        <p:nvSpPr>
          <p:cNvPr id="56" name="Google Shape;56;p13"/>
          <p:cNvSpPr txBox="1"/>
          <p:nvPr/>
        </p:nvSpPr>
        <p:spPr>
          <a:xfrm>
            <a:off x="1545600" y="3182550"/>
            <a:ext cx="596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Albert Schueller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Whitman College, Walla Walla, WA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MathFest 2025, Sacramento, CA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Where’s Whitman College?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017725"/>
            <a:ext cx="5774349" cy="307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7698" y="1673188"/>
            <a:ext cx="2753152" cy="1759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Acceleration Data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445100"/>
            <a:ext cx="8520600" cy="22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nice activity for Calculus II (integral calculus). Explores the following topics: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Relationship between acceleration, velocity, and position via integration.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Transition from continuous models to sampled data, numerical integration.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is tolerant of noise in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Smartphone Sensors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4275"/>
            <a:ext cx="8520600" cy="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Smartphones are ubiquitous. Packed with a variety of sensors. Record accelerometer data during movement of phone along a linear path.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44" y="2157419"/>
            <a:ext cx="2633150" cy="13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875" y="2157425"/>
            <a:ext cx="3466992" cy="13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3629025"/>
            <a:ext cx="85206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apps allow real-time recording of raw phone sensor data. Free! Android and apple phones.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pic>
        <p:nvPicPr>
          <p:cNvPr id="84" name="Google Shape;84;p17" title="ChatGPT Image Jul 8, 2025, 11_36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75" y="445025"/>
            <a:ext cx="2547315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40300"/>
            <a:ext cx="4984200" cy="28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recording.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 phone on floor at person’s feet for a few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Smoothly lift phone to person’s height. Keep phone in constant orientation during motion, no rotation.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 phone at height for a few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phone and stop recording.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 the Raw Accelerometer Data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551" y="1141550"/>
            <a:ext cx="3740900" cy="29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3067050" y="1514475"/>
            <a:ext cx="2047800" cy="2085900"/>
          </a:xfrm>
          <a:prstGeom prst="roundRect">
            <a:avLst>
              <a:gd fmla="val 16667" name="adj"/>
            </a:avLst>
          </a:prstGeom>
          <a:solidFill>
            <a:srgbClr val="8DFF00">
              <a:alpha val="468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Google Shape;93;p18"/>
          <p:cNvSpPr/>
          <p:nvPr/>
        </p:nvSpPr>
        <p:spPr>
          <a:xfrm rot="-1188">
            <a:off x="2317798" y="2496132"/>
            <a:ext cx="868200" cy="23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117525" y="1514475"/>
            <a:ext cx="1116900" cy="2085900"/>
          </a:xfrm>
          <a:prstGeom prst="roundRect">
            <a:avLst>
              <a:gd fmla="val 16667" name="adj"/>
            </a:avLst>
          </a:prstGeom>
          <a:solidFill>
            <a:srgbClr val="FF0000">
              <a:alpha val="468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67900" y="1955850"/>
            <a:ext cx="1749900" cy="13161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From feet to head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8"/>
          <p:cNvSpPr/>
          <p:nvPr/>
        </p:nvSpPr>
        <p:spPr>
          <a:xfrm flipH="1" rot="1188">
            <a:off x="6127798" y="2496132"/>
            <a:ext cx="868200" cy="23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996000" y="1955838"/>
            <a:ext cx="1749900" cy="13161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Not needed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 and Integrate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40300"/>
            <a:ext cx="8520600" cy="18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to your favorite data analysis and visualization tools.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Today:</a:t>
            </a:r>
            <a:r>
              <a:rPr lang="en"/>
              <a:t> Python, pandas, plotly.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Alternative: Excel or Google Sheets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resources on GitHub page.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5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Integration and Noise</a:t>
            </a:r>
            <a:endParaRPr/>
          </a:p>
        </p:txBody>
      </p:sp>
      <p:pic>
        <p:nvPicPr>
          <p:cNvPr id="109" name="Google Shape;109;p20" title="ma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125" y="813663"/>
            <a:ext cx="3548351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rieman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700" y="1245875"/>
            <a:ext cx="4733924" cy="2956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0"/>
          <p:cNvCxnSpPr/>
          <p:nvPr/>
        </p:nvCxnSpPr>
        <p:spPr>
          <a:xfrm flipH="1" rot="10800000">
            <a:off x="2671225" y="3465875"/>
            <a:ext cx="146400" cy="2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2" name="Google Shape;112;p20" title="d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0425" y="3661255"/>
            <a:ext cx="201425" cy="20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20"/>
          <p:cNvCxnSpPr/>
          <p:nvPr/>
        </p:nvCxnSpPr>
        <p:spPr>
          <a:xfrm flipH="1">
            <a:off x="2842000" y="1543250"/>
            <a:ext cx="146400" cy="2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" name="Google Shape;114;p20" title="a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5575" y="1377375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t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4375" y="3661463"/>
            <a:ext cx="219266" cy="20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20"/>
          <p:cNvCxnSpPr/>
          <p:nvPr/>
        </p:nvCxnSpPr>
        <p:spPr>
          <a:xfrm rot="10800000">
            <a:off x="2955375" y="3465875"/>
            <a:ext cx="146400" cy="2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Coming!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685875"/>
            <a:ext cx="3972900" cy="10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Schueller, Whitman College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Materials from this talk (github):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1" title="mathfest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00" y="2981538"/>
            <a:ext cx="10572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 title="phonesens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725" y="2981538"/>
            <a:ext cx="10572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730925" y="1685875"/>
            <a:ext cx="3972900" cy="10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phone sensor projects (github):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399150" y="985700"/>
            <a:ext cx="834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Thank You Organizers: Marissa Masden and Julia Eaton </a:t>
            </a:r>
            <a:r>
              <a:rPr lang="en" sz="1450">
                <a:solidFill>
                  <a:srgbClr val="130048"/>
                </a:solidFill>
              </a:rPr>
              <a:t>Julia Eaton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man Dark">
  <a:themeElements>
    <a:clrScheme name="Simple Light">
      <a:dk1>
        <a:srgbClr val="DADADA"/>
      </a:dk1>
      <a:lt1>
        <a:srgbClr val="FFC627"/>
      </a:lt1>
      <a:dk2>
        <a:srgbClr val="595959"/>
      </a:dk2>
      <a:lt2>
        <a:srgbClr val="EEEEEE"/>
      </a:lt2>
      <a:accent1>
        <a:srgbClr val="6E2B62"/>
      </a:accent1>
      <a:accent2>
        <a:srgbClr val="8E9A36"/>
      </a:accent2>
      <a:accent3>
        <a:srgbClr val="046A38"/>
      </a:accent3>
      <a:accent4>
        <a:srgbClr val="007396"/>
      </a:accent4>
      <a:accent5>
        <a:srgbClr val="6CB2E2"/>
      </a:accent5>
      <a:accent6>
        <a:srgbClr val="333333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